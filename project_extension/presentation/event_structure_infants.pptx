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 (Upright)</c:v>
                </c:pt>
              </c:strCache>
            </c:strRef>
          </c:tx>
          <c:spPr>
            <a:solidFill>
              <a:srgbClr val="54784E"/>
            </a:solidFill>
          </c:spPr>
          <c:dLbls>
            <c:numFmt formatCode="0.0%" sourceLinked="0"/>
            <c:txPr>
              <a:bodyPr/>
              <a:lstStyle/>
              <a:p>
                <a:pPr>
                  <a:defRPr sz="14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Social Verification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UGW (Inverted)</c:v>
                </c:pt>
              </c:strCache>
            </c:strRef>
          </c:tx>
          <c:spPr>
            <a:solidFill>
              <a:srgbClr val="AA5939"/>
            </a:solidFill>
          </c:spPr>
          <c:dLbls>
            <c:numFmt formatCode="0.0%" sourceLinked="0"/>
            <c:txPr>
              <a:bodyPr/>
              <a:lstStyle/>
              <a:p>
                <a:pPr>
                  <a:defRPr sz="14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Social Verification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4E3420"/>
                </a:solidFill>
              </a:defRPr>
            </a:pPr>
            <a:r>
              <a:t>Definitions &amp; Gaze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389120" cy="5029200"/>
          </a:xfrm>
        </p:spPr>
        <p:txBody>
          <a:bodyPr wrap="square" lIns="0" rIns="0"/>
          <a:lstStyle/>
          <a:p>
            <a:pPr>
              <a:defRPr sz="2000">
                <a:solidFill>
                  <a:srgbClr val="2C3E2C"/>
                </a:solidFill>
              </a:defRPr>
            </a:pPr>
            <a:r>
              <a:t>Concept: We moved beyond simple "looking time" to analyze every AOI transition and classify each gaze strategy.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Strategy 1 - Man Face &lt;-&gt; Woman Face (Social Verification): Direct gaze shifts between the giver and receiver that verify shared intent.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Strategy 2 - Body &lt;-&gt; Toy (Mechanical Tracking): Tracks the hands/bodies and the moving object without invoking the agents' minds.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Strategy 3 - Face &lt;-&gt; Toy (Object-Face Linking): Links an agent's face and the object yet stops short of connecting both people.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Visual: Diagram shows every bidirectional arrow for the three strategies.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3931920"/>
            <a:ext cx="1188720" cy="640080"/>
          </a:xfrm>
          <a:prstGeom prst="ellipse">
            <a:avLst/>
          </a:prstGeom>
          <a:solidFill>
            <a:srgbClr val="54784E"/>
          </a:solidFill>
          <a:ln>
            <a:solidFill>
              <a:srgbClr val="2C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Man Face</a:t>
            </a:r>
          </a:p>
        </p:txBody>
      </p:sp>
      <p:sp>
        <p:nvSpPr>
          <p:cNvPr id="5" name="Oval 4"/>
          <p:cNvSpPr/>
          <p:nvPr/>
        </p:nvSpPr>
        <p:spPr>
          <a:xfrm>
            <a:off x="3383280" y="3931920"/>
            <a:ext cx="1188720" cy="640080"/>
          </a:xfrm>
          <a:prstGeom prst="ellipse">
            <a:avLst/>
          </a:prstGeom>
          <a:solidFill>
            <a:srgbClr val="54784E"/>
          </a:solidFill>
          <a:ln>
            <a:solidFill>
              <a:srgbClr val="2C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Woman Face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5303520"/>
            <a:ext cx="1188720" cy="640080"/>
          </a:xfrm>
          <a:prstGeom prst="ellipse">
            <a:avLst/>
          </a:prstGeom>
          <a:solidFill>
            <a:srgbClr val="C7964B"/>
          </a:solidFill>
          <a:ln>
            <a:solidFill>
              <a:srgbClr val="2C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Body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5303520"/>
            <a:ext cx="1188720" cy="640080"/>
          </a:xfrm>
          <a:prstGeom prst="ellipse">
            <a:avLst/>
          </a:prstGeom>
          <a:solidFill>
            <a:srgbClr val="AA5939"/>
          </a:solidFill>
          <a:ln>
            <a:solidFill>
              <a:srgbClr val="2C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Toy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4389120"/>
            <a:ext cx="1188720" cy="640080"/>
          </a:xfrm>
          <a:prstGeom prst="ellipse">
            <a:avLst/>
          </a:prstGeom>
          <a:solidFill>
            <a:srgbClr val="54784E"/>
          </a:solidFill>
          <a:ln>
            <a:solidFill>
              <a:srgbClr val="2C3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Agent 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25880.0" y="4251960.0"/>
            <a:ext cx="2651760.0" cy="0.0"/>
          </a:xfrm>
          <a:prstGeom prst="line">
            <a:avLst/>
          </a:prstGeom>
          <a:ln w="25400">
            <a:solidFill>
              <a:srgbClr val="2C3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325880.0" y="4251960.0"/>
            <a:ext cx="2651760.0" cy="0.0"/>
          </a:xfrm>
          <a:prstGeom prst="line">
            <a:avLst/>
          </a:prstGeom>
          <a:ln w="25400">
            <a:solidFill>
              <a:srgbClr val="2C3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00200.0" y="5623560.0"/>
            <a:ext cx="2103120.0" cy="0.0"/>
          </a:xfrm>
          <a:prstGeom prst="line">
            <a:avLst/>
          </a:prstGeom>
          <a:ln w="25400">
            <a:solidFill>
              <a:srgbClr val="2C3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600200.0" y="5623560.0"/>
            <a:ext cx="2103120.0" cy="0.0"/>
          </a:xfrm>
          <a:prstGeom prst="line">
            <a:avLst/>
          </a:prstGeom>
          <a:ln w="25400">
            <a:solidFill>
              <a:srgbClr val="2C3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703320.0" y="4709160.0"/>
            <a:ext cx="1737360.0" cy="914400.0"/>
          </a:xfrm>
          <a:prstGeom prst="line">
            <a:avLst/>
          </a:prstGeom>
          <a:ln w="25400">
            <a:solidFill>
              <a:srgbClr val="2C3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703320.0" y="4709160.0"/>
            <a:ext cx="1737360.0" cy="914400.0"/>
          </a:xfrm>
          <a:prstGeom prst="line">
            <a:avLst/>
          </a:prstGeom>
          <a:ln w="25400">
            <a:solidFill>
              <a:srgbClr val="2C3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4E3420"/>
                </a:solidFill>
              </a:defRPr>
            </a:pPr>
            <a:r>
              <a:t>The Rise of Social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389120" cy="5029200"/>
          </a:xfrm>
        </p:spPr>
        <p:txBody>
          <a:bodyPr wrap="square" lIns="0" rIns="0"/>
          <a:lstStyle/>
          <a:p>
            <a:pPr>
              <a:defRPr sz="2000">
                <a:solidFill>
                  <a:srgbClr val="2C3E2C"/>
                </a:solidFill>
              </a:defRPr>
            </a:pPr>
            <a:r>
              <a:t>Story: Older infants increasingly verify the social connection between actors.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Key Finding: Face &lt;-&gt; Face transitions climb steadily from 7 to 11 months (~4 percentage points per month).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Stats: Linear trend across 7-11 months is significant (p = 0.025).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Adults Comparison: Adults show far higher Social Verification than 7-month-olds (p = 0.006).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Visual: Linear trend scatter with regression line.</a:t>
            </a:r>
          </a:p>
        </p:txBody>
      </p:sp>
      <p:pic>
        <p:nvPicPr>
          <p:cNvPr id="4" name="Picture 3" descr="gw_transitions_min3_50_percent_linear_trend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4297680" cy="2865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4E3420"/>
                </a:solidFill>
              </a:defRPr>
            </a:pPr>
            <a:r>
              <a:t>The Decline of Mechanical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389120" cy="5029200"/>
          </a:xfrm>
        </p:spPr>
        <p:txBody>
          <a:bodyPr wrap="square" lIns="0" rIns="0"/>
          <a:lstStyle/>
          <a:p>
            <a:pPr>
              <a:defRPr sz="2000">
                <a:solidFill>
                  <a:srgbClr val="2C3E2C"/>
                </a:solidFill>
              </a:defRPr>
            </a:pPr>
            <a:r>
              <a:t>Story: As Social Verification rises, purely mechanical tracking falls.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Key Finding: 7-month-olds devote over half of their transitions to Body &lt;-&gt; Toy tracking before the strategy drops with age.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Stats: Linear trend shows a significant negative slope (p = 0.005).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Baseline: Mechanical Tracking dominates early gaze behavior.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Visual: Linear trend scatter for Mechanical Tracking.</a:t>
            </a:r>
          </a:p>
        </p:txBody>
      </p:sp>
      <p:pic>
        <p:nvPicPr>
          <p:cNvPr id="4" name="Picture 3" descr="gw_transitions_min3_50_percent_linear_trend_mechanical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4297680" cy="2865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4E3420"/>
                </a:solidFill>
              </a:defRPr>
            </a:pPr>
            <a:r>
              <a:t>Object-Face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389120" cy="5029200"/>
          </a:xfrm>
        </p:spPr>
        <p:txBody>
          <a:bodyPr wrap="square" lIns="0" rIns="0"/>
          <a:lstStyle/>
          <a:p>
            <a:pPr>
              <a:defRPr sz="2000">
                <a:solidFill>
                  <a:srgbClr val="2C3E2C"/>
                </a:solidFill>
              </a:defRPr>
            </a:pPr>
            <a:r>
              <a:t>Story: Face &lt;-&gt; Toy transitions peak at 9 months, bridging mechanical tracking and full social verification.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Observation: 9-month-olds allocate roughly half of their transitions to linking the agent and the object but not the recipient.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Stats: Placeholder for the detailed GEE stats describing the 9-month peak and adult contrasts.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Visual: Developmental profile of Object-Face Linking.</a:t>
            </a:r>
          </a:p>
        </p:txBody>
      </p:sp>
      <p:pic>
        <p:nvPicPr>
          <p:cNvPr id="4" name="Picture 3" descr="gw_transitions_min3_50_percent_linear_trend_object_face_l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4297680" cy="2865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4E3420"/>
                </a:solidFill>
              </a:defRPr>
            </a:pPr>
            <a:r>
              <a:t>Semantic Control (GW vs UGW)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389120" cy="5029200"/>
          </a:xfrm>
        </p:spPr>
        <p:txBody>
          <a:bodyPr wrap="square" lIns="0" rIns="0"/>
          <a:lstStyle/>
          <a:p>
            <a:pPr>
              <a:defRPr sz="2000">
                <a:solidFill>
                  <a:srgbClr val="2C3E2C"/>
                </a:solidFill>
              </a:defRPr>
            </a:pPr>
            <a:r>
              <a:t>Question: Do 10-month-olds fixate faces because of semantic understanding or simple facial attraction?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Method: Compare the upright Give (GW) to the inverted Give (UGW).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Key Finding: GW maintains high Social Verification (17%) but UGW collapses to 0.8%.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Conclusion: Strategy is driven by semantics; the gaze pattern disappears when meaning breaks.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Visual: Paired bar chart (GW vs UGW) for Social Verification.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846320" y="1371600"/>
          <a:ext cx="43891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4E3420"/>
                </a:solidFill>
              </a:defRPr>
            </a:pPr>
            <a:r>
              <a:t>The Anticipation Gap (Latency to Toy)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389120" cy="5029200"/>
          </a:xfrm>
        </p:spPr>
        <p:txBody>
          <a:bodyPr wrap="square" lIns="0" rIns="0"/>
          <a:lstStyle/>
          <a:p>
            <a:pPr>
              <a:defRPr sz="2000">
                <a:solidFill>
                  <a:srgbClr val="2C3E2C"/>
                </a:solidFill>
              </a:defRPr>
            </a:pPr>
            <a:r>
              <a:t>Concept: Theory of Mind should enable predictive saccades toward the toy before the transfer completes.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Finding: Adults anticipate instantly (4.0 frames) while infants remain reactive at 13-22 frames.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Stats: Every infant cohort is significantly slower than adults (p &lt; 0.01).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Conclusion: Eleven-month-olds understand structure (faces) but still process rather than predict.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Visual: Mean latency bar chart with significance markers.</a:t>
            </a:r>
          </a:p>
        </p:txBody>
      </p:sp>
      <p:pic>
        <p:nvPicPr>
          <p:cNvPr id="4" name="Picture 3" descr="gw_latency_to_toy_min3_50_percent_latency_to_to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4297680" cy="36837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4E3420"/>
                </a:solidFill>
              </a:defRPr>
            </a:pPr>
            <a:r>
              <a:t>The Reaction Check (Show Condition)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389120" cy="5029200"/>
          </a:xfrm>
        </p:spPr>
        <p:txBody>
          <a:bodyPr wrap="square" lIns="0" rIns="0"/>
          <a:lstStyle/>
          <a:p>
            <a:pPr>
              <a:defRPr sz="2000">
                <a:solidFill>
                  <a:srgbClr val="2C3E2C"/>
                </a:solidFill>
              </a:defRPr>
            </a:pPr>
            <a:r>
              <a:t>Concept: In the Show event, success requires monitoring the observer's (Man's) reaction.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Finding: Adults check the Man's face 52% of the time; 7-month-olds never check and 11-month-olds reach only 9%.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Stats: All infant cohorts are significantly lower than adults (p &lt; 0.001).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Conclusion: Pre-linguistic event representation is partial: agent and object are encoded, but the social goal is missed.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Visual: Reaction-window bar chart for looking at the Man.</a:t>
            </a:r>
          </a:p>
        </p:txBody>
      </p:sp>
      <p:pic>
        <p:nvPicPr>
          <p:cNvPr id="4" name="Picture 3" descr="sw_time_window_min3_50_percent_time_window_ba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4297680" cy="36837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4E3420"/>
                </a:solidFill>
              </a:defRPr>
            </a:pPr>
            <a:r>
              <a:t>The Story in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389120" cy="5029200"/>
          </a:xfrm>
        </p:spPr>
        <p:txBody>
          <a:bodyPr wrap="square" lIns="0" rIns="0"/>
          <a:lstStyle/>
          <a:p>
            <a:pPr>
              <a:defRPr sz="2000">
                <a:solidFill>
                  <a:srgbClr val="2C3E2C"/>
                </a:solidFill>
              </a:defRPr>
            </a:pPr>
            <a:r>
              <a:t>7-8 Months: Mechanical trackers driven by motion (Body &lt;-&gt; Toy) with reflexively fast reactions.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9 Months: Object linkers obsessed with Agent-Object connections and slower processing times.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10-11 Months: Social verifiers who capture the giver, recipient, and object but still process slowly and miss reactions.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Adults: Experts who are fast, predictive, and fully socially integrated.</a:t>
            </a:r>
          </a:p>
          <a:p>
            <a:pPr>
              <a:defRPr sz="2000">
                <a:solidFill>
                  <a:srgbClr val="2C3E2C"/>
                </a:solidFill>
              </a:defRPr>
            </a:pPr>
            <a:r>
              <a:t>Takeaway: Event structure understanding emerges in stages; efficiency and social goals lag behind structural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